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61" r:id="rId2"/>
  </p:sldIdLst>
  <p:sldSz cx="12192000" cy="450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6197"/>
  </p:normalViewPr>
  <p:slideViewPr>
    <p:cSldViewPr snapToGrid="0">
      <p:cViewPr varScale="1">
        <p:scale>
          <a:sx n="107" d="100"/>
          <a:sy n="107" d="100"/>
        </p:scale>
        <p:origin x="132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750888" y="1143000"/>
            <a:ext cx="83597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750888" y="1143000"/>
            <a:ext cx="8359776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50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36551"/>
            <a:ext cx="9144000" cy="1566863"/>
          </a:xfrm>
        </p:spPr>
        <p:txBody>
          <a:bodyPr anchor="b"/>
          <a:lstStyle>
            <a:lvl1pPr algn="ctr">
              <a:defRPr sz="39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63838"/>
            <a:ext cx="9144000" cy="1086594"/>
          </a:xfrm>
        </p:spPr>
        <p:txBody>
          <a:bodyPr/>
          <a:lstStyle>
            <a:lvl1pPr marL="0" indent="0" algn="ctr">
              <a:buNone/>
              <a:defRPr sz="1575"/>
            </a:lvl1pPr>
            <a:lvl2pPr marL="300060" indent="0" algn="ctr">
              <a:buNone/>
              <a:defRPr sz="1313"/>
            </a:lvl2pPr>
            <a:lvl3pPr marL="600121" indent="0" algn="ctr">
              <a:buNone/>
              <a:defRPr sz="1181"/>
            </a:lvl3pPr>
            <a:lvl4pPr marL="900181" indent="0" algn="ctr">
              <a:buNone/>
              <a:defRPr sz="1050"/>
            </a:lvl4pPr>
            <a:lvl5pPr marL="1200241" indent="0" algn="ctr">
              <a:buNone/>
              <a:defRPr sz="1050"/>
            </a:lvl5pPr>
            <a:lvl6pPr marL="1500302" indent="0" algn="ctr">
              <a:buNone/>
              <a:defRPr sz="1050"/>
            </a:lvl6pPr>
            <a:lvl7pPr marL="1800362" indent="0" algn="ctr">
              <a:buNone/>
              <a:defRPr sz="1050"/>
            </a:lvl7pPr>
            <a:lvl8pPr marL="2100423" indent="0" algn="ctr">
              <a:buNone/>
              <a:defRPr sz="1050"/>
            </a:lvl8pPr>
            <a:lvl9pPr marL="2400483" indent="0" algn="ctr">
              <a:buNone/>
              <a:defRPr sz="10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7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22016"/>
            <a:ext cx="10515600" cy="1872109"/>
          </a:xfrm>
        </p:spPr>
        <p:txBody>
          <a:bodyPr anchor="b"/>
          <a:lstStyle>
            <a:lvl1pPr>
              <a:defRPr sz="39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011836"/>
            <a:ext cx="10515600" cy="984498"/>
          </a:xfrm>
        </p:spPr>
        <p:txBody>
          <a:bodyPr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0006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2pPr>
            <a:lvl3pPr marL="60012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3pPr>
            <a:lvl4pPr marL="90018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20024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50030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180036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10042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400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0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98066"/>
            <a:ext cx="5181600" cy="28555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98066"/>
            <a:ext cx="5181600" cy="28555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0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9614"/>
            <a:ext cx="10515600" cy="8699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03263"/>
            <a:ext cx="5157787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43956"/>
            <a:ext cx="5157787" cy="24180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3263"/>
            <a:ext cx="5183188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43956"/>
            <a:ext cx="5183188" cy="24180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9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3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0038"/>
            <a:ext cx="3932237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47998"/>
            <a:ext cx="6172200" cy="3198317"/>
          </a:xfrm>
        </p:spPr>
        <p:txBody>
          <a:bodyPr/>
          <a:lstStyle>
            <a:lvl1pPr>
              <a:defRPr sz="2100"/>
            </a:lvl1pPr>
            <a:lvl2pPr>
              <a:defRPr sz="1838"/>
            </a:lvl2pPr>
            <a:lvl3pPr>
              <a:defRPr sz="1575"/>
            </a:lvl3pPr>
            <a:lvl4pPr>
              <a:defRPr sz="1313"/>
            </a:lvl4pPr>
            <a:lvl5pPr>
              <a:defRPr sz="1313"/>
            </a:lvl5pPr>
            <a:lvl6pPr>
              <a:defRPr sz="1313"/>
            </a:lvl6pPr>
            <a:lvl7pPr>
              <a:defRPr sz="1313"/>
            </a:lvl7pPr>
            <a:lvl8pPr>
              <a:defRPr sz="1313"/>
            </a:lvl8pPr>
            <a:lvl9pPr>
              <a:defRPr sz="131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50169"/>
            <a:ext cx="3932237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0038"/>
            <a:ext cx="3932237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47998"/>
            <a:ext cx="6172200" cy="3198317"/>
          </a:xfrm>
        </p:spPr>
        <p:txBody>
          <a:bodyPr anchor="t"/>
          <a:lstStyle>
            <a:lvl1pPr marL="0" indent="0">
              <a:buNone/>
              <a:defRPr sz="2100"/>
            </a:lvl1pPr>
            <a:lvl2pPr marL="300060" indent="0">
              <a:buNone/>
              <a:defRPr sz="1838"/>
            </a:lvl2pPr>
            <a:lvl3pPr marL="600121" indent="0">
              <a:buNone/>
              <a:defRPr sz="1575"/>
            </a:lvl3pPr>
            <a:lvl4pPr marL="900181" indent="0">
              <a:buNone/>
              <a:defRPr sz="1313"/>
            </a:lvl4pPr>
            <a:lvl5pPr marL="1200241" indent="0">
              <a:buNone/>
              <a:defRPr sz="1313"/>
            </a:lvl5pPr>
            <a:lvl6pPr marL="1500302" indent="0">
              <a:buNone/>
              <a:defRPr sz="1313"/>
            </a:lvl6pPr>
            <a:lvl7pPr marL="1800362" indent="0">
              <a:buNone/>
              <a:defRPr sz="1313"/>
            </a:lvl7pPr>
            <a:lvl8pPr marL="2100423" indent="0">
              <a:buNone/>
              <a:defRPr sz="1313"/>
            </a:lvl8pPr>
            <a:lvl9pPr marL="2400483" indent="0">
              <a:buNone/>
              <a:defRPr sz="131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50169"/>
            <a:ext cx="3932237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1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4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39613"/>
            <a:ext cx="2628900" cy="381401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39613"/>
            <a:ext cx="7734300" cy="381401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6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614"/>
            <a:ext cx="10515600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98066"/>
            <a:ext cx="10515600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171356"/>
            <a:ext cx="2743200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171356"/>
            <a:ext cx="4114800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171356"/>
            <a:ext cx="2743200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9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00121" rtl="0" eaLnBrk="1" latinLnBrk="0" hangingPunct="1">
        <a:lnSpc>
          <a:spcPct val="90000"/>
        </a:lnSpc>
        <a:spcBef>
          <a:spcPct val="0"/>
        </a:spcBef>
        <a:buNone/>
        <a:defRPr sz="28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0030" indent="-150030" algn="l" defTabSz="600121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1838" kern="1200">
          <a:solidFill>
            <a:schemeClr val="tx1"/>
          </a:solidFill>
          <a:latin typeface="+mn-lt"/>
          <a:ea typeface="+mn-ea"/>
          <a:cs typeface="+mn-cs"/>
        </a:defRPr>
      </a:lvl1pPr>
      <a:lvl2pPr marL="45009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75015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105021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35027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65033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95039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25045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55051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30006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60012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0018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20024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50030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80036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10042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40048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02E94D29-272D-4105-A24E-89FC4D8B842C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2281196" y="863615"/>
            <a:ext cx="2727643" cy="22532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00C73C9B-3750-4F5D-8ACC-418F3F4D0FE3}"/>
              </a:ext>
            </a:extLst>
          </p:cNvPr>
          <p:cNvCxnSpPr>
            <a:cxnSpLocks/>
            <a:stCxn id="42" idx="3"/>
            <a:endCxn id="46" idx="2"/>
          </p:cNvCxnSpPr>
          <p:nvPr/>
        </p:nvCxnSpPr>
        <p:spPr>
          <a:xfrm flipV="1">
            <a:off x="2281197" y="2541219"/>
            <a:ext cx="2709566" cy="474171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: abgerundete Ecken 4">
            <a:extLst>
              <a:ext uri="{FF2B5EF4-FFF2-40B4-BE49-F238E27FC236}">
                <a16:creationId xmlns:a16="http://schemas.microsoft.com/office/drawing/2014/main" id="{98053023-DA99-4426-9E12-3111A9F9E0BD}"/>
              </a:ext>
            </a:extLst>
          </p:cNvPr>
          <p:cNvSpPr txBox="1">
            <a:spLocks/>
          </p:cNvSpPr>
          <p:nvPr/>
        </p:nvSpPr>
        <p:spPr>
          <a:xfrm>
            <a:off x="9744637" y="819700"/>
            <a:ext cx="1784485" cy="96108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Perceived Bio-Inspiration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AD11D92B-6127-4331-AD6C-90DB9F5C5DE0}"/>
              </a:ext>
            </a:extLst>
          </p:cNvPr>
          <p:cNvSpPr/>
          <p:nvPr/>
        </p:nvSpPr>
        <p:spPr>
          <a:xfrm>
            <a:off x="496711" y="610636"/>
            <a:ext cx="1784485" cy="956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Bio-Inspired Framing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B1EA2D0E-E87F-4579-B45D-B466181DE76F}"/>
              </a:ext>
            </a:extLst>
          </p:cNvPr>
          <p:cNvSpPr/>
          <p:nvPr/>
        </p:nvSpPr>
        <p:spPr>
          <a:xfrm>
            <a:off x="509135" y="2541219"/>
            <a:ext cx="1772062" cy="9483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Framing</a:t>
            </a:r>
          </a:p>
        </p:txBody>
      </p:sp>
      <p:sp>
        <p:nvSpPr>
          <p:cNvPr id="50" name="Rechteck: abgerundete Ecken 4">
            <a:extLst>
              <a:ext uri="{FF2B5EF4-FFF2-40B4-BE49-F238E27FC236}">
                <a16:creationId xmlns:a16="http://schemas.microsoft.com/office/drawing/2014/main" id="{A1442E51-F637-4E92-8BCF-6C68517931F7}"/>
              </a:ext>
            </a:extLst>
          </p:cNvPr>
          <p:cNvSpPr txBox="1">
            <a:spLocks/>
          </p:cNvSpPr>
          <p:nvPr/>
        </p:nvSpPr>
        <p:spPr>
          <a:xfrm>
            <a:off x="161615" y="146396"/>
            <a:ext cx="2378841" cy="26310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Framing: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A17D67-6920-4C2F-91C3-514534C8352A}"/>
              </a:ext>
            </a:extLst>
          </p:cNvPr>
          <p:cNvSpPr/>
          <p:nvPr/>
        </p:nvSpPr>
        <p:spPr>
          <a:xfrm>
            <a:off x="5008839" y="493187"/>
            <a:ext cx="1724473" cy="7408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Naturalness</a:t>
            </a:r>
          </a:p>
        </p:txBody>
      </p:sp>
      <p:sp>
        <p:nvSpPr>
          <p:cNvPr id="31" name="Rechteck: abgerundete Ecken 4">
            <a:extLst>
              <a:ext uri="{FF2B5EF4-FFF2-40B4-BE49-F238E27FC236}">
                <a16:creationId xmlns:a16="http://schemas.microsoft.com/office/drawing/2014/main" id="{182D1DB2-0E86-4136-AFF5-4ED11B92F6BA}"/>
              </a:ext>
            </a:extLst>
          </p:cNvPr>
          <p:cNvSpPr txBox="1">
            <a:spLocks/>
          </p:cNvSpPr>
          <p:nvPr/>
        </p:nvSpPr>
        <p:spPr>
          <a:xfrm>
            <a:off x="9744638" y="2497933"/>
            <a:ext cx="1784485" cy="96108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Perceived Sustainability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hteck: abgerundete Ecken 4">
            <a:extLst>
              <a:ext uri="{FF2B5EF4-FFF2-40B4-BE49-F238E27FC236}">
                <a16:creationId xmlns:a16="http://schemas.microsoft.com/office/drawing/2014/main" id="{32CF6D58-E82D-4904-98F2-38903C8F65E3}"/>
              </a:ext>
            </a:extLst>
          </p:cNvPr>
          <p:cNvSpPr txBox="1">
            <a:spLocks/>
          </p:cNvSpPr>
          <p:nvPr/>
        </p:nvSpPr>
        <p:spPr>
          <a:xfrm>
            <a:off x="4336395" y="146337"/>
            <a:ext cx="2378841" cy="26310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Cues (Proximal Indicators):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4D92144D-9977-4395-92F0-D39DD6118FB0}"/>
              </a:ext>
            </a:extLst>
          </p:cNvPr>
          <p:cNvSpPr/>
          <p:nvPr/>
        </p:nvSpPr>
        <p:spPr>
          <a:xfrm>
            <a:off x="5008838" y="1300240"/>
            <a:ext cx="1724473" cy="7408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Evolutionary optimization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6EBD9AAF-980D-47FE-B6AB-7FB27FDF2C9F}"/>
              </a:ext>
            </a:extLst>
          </p:cNvPr>
          <p:cNvSpPr/>
          <p:nvPr/>
        </p:nvSpPr>
        <p:spPr>
          <a:xfrm>
            <a:off x="4990763" y="2170791"/>
            <a:ext cx="1724473" cy="7408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Energy efficiency</a:t>
            </a:r>
          </a:p>
        </p:txBody>
      </p:sp>
      <p:sp>
        <p:nvSpPr>
          <p:cNvPr id="49" name="Rechteck: abgerundete Ecken 4">
            <a:extLst>
              <a:ext uri="{FF2B5EF4-FFF2-40B4-BE49-F238E27FC236}">
                <a16:creationId xmlns:a16="http://schemas.microsoft.com/office/drawing/2014/main" id="{85F9880B-1433-46D9-ABBA-40F2F9599AA2}"/>
              </a:ext>
            </a:extLst>
          </p:cNvPr>
          <p:cNvSpPr txBox="1">
            <a:spLocks/>
          </p:cNvSpPr>
          <p:nvPr/>
        </p:nvSpPr>
        <p:spPr>
          <a:xfrm>
            <a:off x="9077230" y="146395"/>
            <a:ext cx="2378841" cy="26310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Distal Criteria: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D1A79BF-8EE7-4FDF-9D98-7BEAD3B08AA2}"/>
              </a:ext>
            </a:extLst>
          </p:cNvPr>
          <p:cNvSpPr txBox="1"/>
          <p:nvPr/>
        </p:nvSpPr>
        <p:spPr>
          <a:xfrm>
            <a:off x="113019" y="1636997"/>
            <a:ext cx="2180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“draws inspiration from natural plant structures”</a:t>
            </a:r>
          </a:p>
          <a:p>
            <a:r>
              <a:rPr lang="en-US" sz="1200" dirty="0"/>
              <a:t>“pine cones, which open and close in response to humidity”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AA60CC0-422C-4D45-8F42-8B1C75EFA03E}"/>
              </a:ext>
            </a:extLst>
          </p:cNvPr>
          <p:cNvSpPr txBox="1"/>
          <p:nvPr/>
        </p:nvSpPr>
        <p:spPr>
          <a:xfrm>
            <a:off x="113019" y="3489561"/>
            <a:ext cx="2180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“react to humidity without external energy”</a:t>
            </a:r>
          </a:p>
          <a:p>
            <a:r>
              <a:rPr lang="en-US" sz="1200" dirty="0"/>
              <a:t>“reduce reliance on synthetic or carbon-intensive materials”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7354B11D-0EDD-44F6-B95C-7AD5D6CD467B}"/>
              </a:ext>
            </a:extLst>
          </p:cNvPr>
          <p:cNvSpPr txBox="1"/>
          <p:nvPr/>
        </p:nvSpPr>
        <p:spPr>
          <a:xfrm rot="21270095">
            <a:off x="2387818" y="531011"/>
            <a:ext cx="229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Explicit reference to plants, pine cones, cellulose 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D83383BF-3FFD-40FA-B036-69E5747CBBD3}"/>
              </a:ext>
            </a:extLst>
          </p:cNvPr>
          <p:cNvSpPr txBox="1"/>
          <p:nvPr/>
        </p:nvSpPr>
        <p:spPr>
          <a:xfrm rot="1004659">
            <a:off x="2436188" y="1466689"/>
            <a:ext cx="229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Plants operate efficiently and adaptively</a:t>
            </a:r>
          </a:p>
        </p:txBody>
      </p:sp>
      <p:cxnSp>
        <p:nvCxnSpPr>
          <p:cNvPr id="58" name="Straight Arrow Connector 12">
            <a:extLst>
              <a:ext uri="{FF2B5EF4-FFF2-40B4-BE49-F238E27FC236}">
                <a16:creationId xmlns:a16="http://schemas.microsoft.com/office/drawing/2014/main" id="{3A8B5439-C78E-4ADC-8A01-8BAC887843FA}"/>
              </a:ext>
            </a:extLst>
          </p:cNvPr>
          <p:cNvCxnSpPr>
            <a:cxnSpLocks/>
            <a:stCxn id="41" idx="3"/>
            <a:endCxn id="40" idx="2"/>
          </p:cNvCxnSpPr>
          <p:nvPr/>
        </p:nvCxnSpPr>
        <p:spPr>
          <a:xfrm>
            <a:off x="2281196" y="1088935"/>
            <a:ext cx="2727642" cy="58173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973B5F02-44B6-484D-8AB5-B8ACCBE0D484}"/>
              </a:ext>
            </a:extLst>
          </p:cNvPr>
          <p:cNvSpPr txBox="1"/>
          <p:nvPr/>
        </p:nvSpPr>
        <p:spPr>
          <a:xfrm rot="20949269">
            <a:off x="2307756" y="2310385"/>
            <a:ext cx="229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Reducing building energy use through autonomous adjustment 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B506328-373B-4781-B261-FD5308B2218F}"/>
              </a:ext>
            </a:extLst>
          </p:cNvPr>
          <p:cNvSpPr/>
          <p:nvPr/>
        </p:nvSpPr>
        <p:spPr>
          <a:xfrm>
            <a:off x="5011343" y="2948534"/>
            <a:ext cx="1724473" cy="7408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Material sustainability cue</a:t>
            </a:r>
          </a:p>
        </p:txBody>
      </p:sp>
      <p:cxnSp>
        <p:nvCxnSpPr>
          <p:cNvPr id="62" name="Straight Arrow Connector 12">
            <a:extLst>
              <a:ext uri="{FF2B5EF4-FFF2-40B4-BE49-F238E27FC236}">
                <a16:creationId xmlns:a16="http://schemas.microsoft.com/office/drawing/2014/main" id="{C9AECC65-C014-452D-85E9-6544F47A9497}"/>
              </a:ext>
            </a:extLst>
          </p:cNvPr>
          <p:cNvCxnSpPr>
            <a:cxnSpLocks/>
            <a:stCxn id="42" idx="3"/>
            <a:endCxn id="60" idx="2"/>
          </p:cNvCxnSpPr>
          <p:nvPr/>
        </p:nvCxnSpPr>
        <p:spPr>
          <a:xfrm>
            <a:off x="2281197" y="3015390"/>
            <a:ext cx="2730146" cy="303572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9620FF72-6834-4AE5-B76D-6F3FEEF9D865}"/>
              </a:ext>
            </a:extLst>
          </p:cNvPr>
          <p:cNvSpPr txBox="1"/>
          <p:nvPr/>
        </p:nvSpPr>
        <p:spPr>
          <a:xfrm rot="758421">
            <a:off x="2275410" y="3252941"/>
            <a:ext cx="229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Reduced reliance on synthetic or carbon-intensive materials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C3ACCA7C-596D-4BA4-B79F-BE6508F727B1}"/>
              </a:ext>
            </a:extLst>
          </p:cNvPr>
          <p:cNvSpPr/>
          <p:nvPr/>
        </p:nvSpPr>
        <p:spPr>
          <a:xfrm>
            <a:off x="5008838" y="3737437"/>
            <a:ext cx="1724473" cy="7408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1B7E9880-DDCE-4407-A483-F616944B4C61}"/>
              </a:ext>
            </a:extLst>
          </p:cNvPr>
          <p:cNvCxnSpPr>
            <a:cxnSpLocks/>
            <a:stCxn id="80" idx="1"/>
            <a:endCxn id="31" idx="1"/>
          </p:cNvCxnSpPr>
          <p:nvPr/>
        </p:nvCxnSpPr>
        <p:spPr>
          <a:xfrm>
            <a:off x="7001521" y="1282090"/>
            <a:ext cx="2743117" cy="1696383"/>
          </a:xfrm>
          <a:prstGeom prst="straightConnector1">
            <a:avLst/>
          </a:prstGeom>
          <a:ln w="47625">
            <a:solidFill>
              <a:srgbClr val="859DB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Geschweifte Klammer rechts 79">
            <a:extLst>
              <a:ext uri="{FF2B5EF4-FFF2-40B4-BE49-F238E27FC236}">
                <a16:creationId xmlns:a16="http://schemas.microsoft.com/office/drawing/2014/main" id="{6ED47FA1-787A-410E-B001-B986BCBEA32D}"/>
              </a:ext>
            </a:extLst>
          </p:cNvPr>
          <p:cNvSpPr/>
          <p:nvPr/>
        </p:nvSpPr>
        <p:spPr>
          <a:xfrm>
            <a:off x="6739334" y="592057"/>
            <a:ext cx="262187" cy="1380065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E1C850F2-3697-4B9B-8C23-148F4174315E}"/>
              </a:ext>
            </a:extLst>
          </p:cNvPr>
          <p:cNvCxnSpPr>
            <a:cxnSpLocks/>
            <a:stCxn id="80" idx="1"/>
            <a:endCxn id="30" idx="1"/>
          </p:cNvCxnSpPr>
          <p:nvPr/>
        </p:nvCxnSpPr>
        <p:spPr>
          <a:xfrm>
            <a:off x="7001521" y="1282090"/>
            <a:ext cx="2743116" cy="1815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98E8D941-D080-4BAE-A879-6E252C48C055}"/>
              </a:ext>
            </a:extLst>
          </p:cNvPr>
          <p:cNvSpPr txBox="1"/>
          <p:nvPr/>
        </p:nvSpPr>
        <p:spPr>
          <a:xfrm>
            <a:off x="7369477" y="1013505"/>
            <a:ext cx="178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[strong, direct activation]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DD1B653C-043D-4A2B-B9CC-F9B3BC0BFD24}"/>
              </a:ext>
            </a:extLst>
          </p:cNvPr>
          <p:cNvSpPr txBox="1"/>
          <p:nvPr/>
        </p:nvSpPr>
        <p:spPr>
          <a:xfrm rot="2085108">
            <a:off x="6874484" y="1611427"/>
            <a:ext cx="1072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inferred via naturalness &amp; evolutionary optimization</a:t>
            </a:r>
          </a:p>
        </p:txBody>
      </p:sp>
      <p:sp>
        <p:nvSpPr>
          <p:cNvPr id="99" name="Geschweifte Klammer rechts 98">
            <a:extLst>
              <a:ext uri="{FF2B5EF4-FFF2-40B4-BE49-F238E27FC236}">
                <a16:creationId xmlns:a16="http://schemas.microsoft.com/office/drawing/2014/main" id="{BE322640-EF91-42C7-90ED-E39C8A9C25A8}"/>
              </a:ext>
            </a:extLst>
          </p:cNvPr>
          <p:cNvSpPr/>
          <p:nvPr/>
        </p:nvSpPr>
        <p:spPr>
          <a:xfrm>
            <a:off x="6749913" y="2262070"/>
            <a:ext cx="262187" cy="1380065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2">
            <a:extLst>
              <a:ext uri="{FF2B5EF4-FFF2-40B4-BE49-F238E27FC236}">
                <a16:creationId xmlns:a16="http://schemas.microsoft.com/office/drawing/2014/main" id="{261083F4-818A-4207-9A72-6B03FA087903}"/>
              </a:ext>
            </a:extLst>
          </p:cNvPr>
          <p:cNvCxnSpPr>
            <a:cxnSpLocks/>
            <a:stCxn id="99" idx="1"/>
            <a:endCxn id="31" idx="1"/>
          </p:cNvCxnSpPr>
          <p:nvPr/>
        </p:nvCxnSpPr>
        <p:spPr>
          <a:xfrm>
            <a:off x="7012100" y="2952103"/>
            <a:ext cx="2732538" cy="2637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48BA3D86-F3F6-456C-9738-320D6AA23FB7}"/>
              </a:ext>
            </a:extLst>
          </p:cNvPr>
          <p:cNvSpPr txBox="1"/>
          <p:nvPr/>
        </p:nvSpPr>
        <p:spPr>
          <a:xfrm>
            <a:off x="7347210" y="2961509"/>
            <a:ext cx="178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[strong, direct activation]</a:t>
            </a:r>
          </a:p>
        </p:txBody>
      </p: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476DF29A-38A2-4AC6-B162-2AB69424E594}"/>
              </a:ext>
            </a:extLst>
          </p:cNvPr>
          <p:cNvCxnSpPr>
            <a:cxnSpLocks/>
            <a:stCxn id="99" idx="1"/>
            <a:endCxn id="30" idx="1"/>
          </p:cNvCxnSpPr>
          <p:nvPr/>
        </p:nvCxnSpPr>
        <p:spPr>
          <a:xfrm flipV="1">
            <a:off x="7012100" y="1300240"/>
            <a:ext cx="2732537" cy="1651863"/>
          </a:xfrm>
          <a:prstGeom prst="straightConnector1">
            <a:avLst/>
          </a:prstGeom>
          <a:ln w="47625">
            <a:solidFill>
              <a:srgbClr val="859DB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feld 107">
            <a:extLst>
              <a:ext uri="{FF2B5EF4-FFF2-40B4-BE49-F238E27FC236}">
                <a16:creationId xmlns:a16="http://schemas.microsoft.com/office/drawing/2014/main" id="{1378F468-C833-4769-83A7-9F52F04BA586}"/>
              </a:ext>
            </a:extLst>
          </p:cNvPr>
          <p:cNvSpPr txBox="1"/>
          <p:nvPr/>
        </p:nvSpPr>
        <p:spPr>
          <a:xfrm rot="19578842">
            <a:off x="7639010" y="2198561"/>
            <a:ext cx="1218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[weaker, indirect]</a:t>
            </a:r>
          </a:p>
        </p:txBody>
      </p:sp>
      <p:sp>
        <p:nvSpPr>
          <p:cNvPr id="111" name="Additionszeichen 110">
            <a:extLst>
              <a:ext uri="{FF2B5EF4-FFF2-40B4-BE49-F238E27FC236}">
                <a16:creationId xmlns:a16="http://schemas.microsoft.com/office/drawing/2014/main" id="{F234ACB7-346F-4C80-B266-B9A5613BDF70}"/>
              </a:ext>
            </a:extLst>
          </p:cNvPr>
          <p:cNvSpPr/>
          <p:nvPr/>
        </p:nvSpPr>
        <p:spPr>
          <a:xfrm>
            <a:off x="9077230" y="2226758"/>
            <a:ext cx="586680" cy="432916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Minuszeichen 112">
            <a:extLst>
              <a:ext uri="{FF2B5EF4-FFF2-40B4-BE49-F238E27FC236}">
                <a16:creationId xmlns:a16="http://schemas.microsoft.com/office/drawing/2014/main" id="{24003DB2-CCE4-4AA8-B608-14274CEDF744}"/>
              </a:ext>
            </a:extLst>
          </p:cNvPr>
          <p:cNvSpPr/>
          <p:nvPr/>
        </p:nvSpPr>
        <p:spPr>
          <a:xfrm>
            <a:off x="9077230" y="1606888"/>
            <a:ext cx="586680" cy="346189"/>
          </a:xfrm>
          <a:prstGeom prst="mathMin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Geschweifte Klammer rechts 113">
            <a:extLst>
              <a:ext uri="{FF2B5EF4-FFF2-40B4-BE49-F238E27FC236}">
                <a16:creationId xmlns:a16="http://schemas.microsoft.com/office/drawing/2014/main" id="{E4558536-8032-493E-AD7E-73D5682E08DA}"/>
              </a:ext>
            </a:extLst>
          </p:cNvPr>
          <p:cNvSpPr/>
          <p:nvPr/>
        </p:nvSpPr>
        <p:spPr>
          <a:xfrm rot="5400000">
            <a:off x="8246402" y="2235132"/>
            <a:ext cx="262187" cy="2572828"/>
          </a:xfrm>
          <a:prstGeom prst="rightBrac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85799CA7-4A92-4B7D-865A-0827CE5D4AA8}"/>
              </a:ext>
            </a:extLst>
          </p:cNvPr>
          <p:cNvSpPr txBox="1"/>
          <p:nvPr/>
        </p:nvSpPr>
        <p:spPr>
          <a:xfrm>
            <a:off x="7089209" y="3777614"/>
            <a:ext cx="426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Biomimetic Promise &gt; implicit assumption: what comes </a:t>
            </a:r>
          </a:p>
          <a:p>
            <a:r>
              <a:rPr lang="en-US" sz="1400" dirty="0"/>
              <a:t>               from nature is efficient, benign, and sustainable</a:t>
            </a:r>
          </a:p>
        </p:txBody>
      </p:sp>
    </p:spTree>
    <p:extLst>
      <p:ext uri="{BB962C8B-B14F-4D97-AF65-F5344CB8AC3E}">
        <p14:creationId xmlns:p14="http://schemas.microsoft.com/office/powerpoint/2010/main" val="83197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135</Words>
  <Application>Microsoft Office PowerPoint</Application>
  <PresentationFormat>Benutzerdefiniert</PresentationFormat>
  <Paragraphs>27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142</cp:revision>
  <dcterms:created xsi:type="dcterms:W3CDTF">2022-11-11T07:25:43Z</dcterms:created>
  <dcterms:modified xsi:type="dcterms:W3CDTF">2025-12-10T10:39:38Z</dcterms:modified>
</cp:coreProperties>
</file>